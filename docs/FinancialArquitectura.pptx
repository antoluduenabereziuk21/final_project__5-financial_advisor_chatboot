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974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9672"/>
            <a:ext cx="11567160" cy="0"/>
          </a:xfrm>
          <a:prstGeom prst="line">
            <a:avLst/>
          </a:prstGeom>
          <a:noFill/>
          <a:ln w="12700">
            <a:solidFill>
              <a:srgbClr val="C9D6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83680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6278"/>
                </a:solidFill>
              </a:rPr>
              <a:t>Financial Advisor Chatbot • MVP en 1 mes • Monolito modular con RAG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262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262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 smtClean="0">
                <a:solidFill>
                  <a:srgbClr val="061A4A"/>
                </a:solidFill>
              </a:rPr>
              <a:t>Frontend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B8"/>
                </a:solidFill>
              </a:rPr>
              <a:t>Interfaz del usuario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80760" y="1627632"/>
            <a:ext cx="0" cy="521208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971800" y="1078992"/>
            <a:ext cx="6217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18811" y="119329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37157" y="1267851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</a:rPr>
              <a:t>USUARIO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2971800" y="2148840"/>
            <a:ext cx="62179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714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2450592"/>
            <a:ext cx="566928" cy="56692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0F5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4963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💬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31920" y="240487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FRONTEND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9352" y="2770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React + Vite  |  Tailwind CSS  |  shadcn/ui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42232" y="3108960"/>
            <a:ext cx="461772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Chat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Historial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Visualización de fuentes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Streaming de respuestas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1143000" y="5074920"/>
            <a:ext cx="9875520" cy="411480"/>
          </a:xfrm>
          <a:prstGeom prst="roundRect">
            <a:avLst>
              <a:gd name="adj" fmla="val 17778"/>
            </a:avLst>
          </a:prstGeom>
          <a:solidFill>
            <a:srgbClr val="EAF3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519379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La interfaz concentra la experiencia del usuario y consume el backend mediante HTTP/REST.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5687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A4A"/>
                </a:solidFill>
              </a:rPr>
              <a:t>Tecnologías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React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93746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Vite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18811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Tailwind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43877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shadcn/ui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68942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Axios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262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 smtClean="0">
                <a:solidFill>
                  <a:srgbClr val="061A4A"/>
                </a:solidFill>
              </a:rPr>
              <a:t>Backend </a:t>
            </a:r>
            <a:r>
              <a:rPr lang="en-US" sz="2500" b="1" dirty="0">
                <a:solidFill>
                  <a:srgbClr val="061A4A"/>
                </a:solidFill>
              </a:rPr>
              <a:t>API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B8"/>
                </a:solidFill>
              </a:rPr>
              <a:t>Servicios principales del MVP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80760" y="1600200"/>
            <a:ext cx="0" cy="548640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5394960" y="1764792"/>
            <a:ext cx="1371600" cy="201168"/>
          </a:xfrm>
          <a:prstGeom prst="rect">
            <a:avLst/>
          </a:prstGeom>
          <a:solidFill>
            <a:srgbClr val="F7FAFF">
              <a:alpha val="97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HTTP / REST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71800" y="1042416"/>
            <a:ext cx="6217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13385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94760" y="1202436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</a:rPr>
              <a:t>FRONTEND / CLIENTE WEB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2971800" y="2148840"/>
            <a:ext cx="62179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714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450592"/>
            <a:ext cx="566928" cy="56692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0F5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4963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🖥️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931920" y="240487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FASTAPI BACKEND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59352" y="2770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API REST central para el chatbot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42232" y="3108960"/>
            <a:ext cx="461772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API REST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Autenticación JWT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Gestión de conversaciones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Orquestador del RAG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Logging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1143000" y="5074920"/>
            <a:ext cx="9875520" cy="411480"/>
          </a:xfrm>
          <a:prstGeom prst="roundRect">
            <a:avLst>
              <a:gd name="adj" fmla="val 17778"/>
            </a:avLst>
          </a:prstGeom>
          <a:solidFill>
            <a:srgbClr val="EAF3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519379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El backend coordina la comunicación entre frontend, RAG, PostgreSQL y GPT.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5687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A4A"/>
                </a:solidFill>
              </a:rPr>
              <a:t>Tecnologías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FastAPI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93746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Pydantic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18811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Uvicorn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43877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JWT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68942" y="5989320"/>
            <a:ext cx="201533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SQLAlchemy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262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 smtClean="0">
                <a:solidFill>
                  <a:srgbClr val="061A4A"/>
                </a:solidFill>
              </a:rPr>
              <a:t>Pipeline </a:t>
            </a:r>
            <a:r>
              <a:rPr lang="en-US" sz="2500" b="1" dirty="0">
                <a:solidFill>
                  <a:srgbClr val="061A4A"/>
                </a:solidFill>
              </a:rPr>
              <a:t>Inteligente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B8"/>
                </a:solidFill>
              </a:rPr>
              <a:t>RAG: recuperación de contexto antes de generar la respuesta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80760" y="1627632"/>
            <a:ext cx="0" cy="521208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971800" y="1060704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521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49040" y="115214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</a:rPr>
              <a:t>PREGUNTA DEL USUARIO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Consulta financiera en lenguaje natural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2148840"/>
            <a:ext cx="62179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714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2450592"/>
            <a:ext cx="566928" cy="56692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0F5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4963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🔎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31920" y="240487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PIPELINE RAG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9352" y="2770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Haystack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42232" y="3108960"/>
            <a:ext cx="461772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Chunking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Embeddings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Retriever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Prompt Builder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1143000" y="5074920"/>
            <a:ext cx="9875520" cy="411480"/>
          </a:xfrm>
          <a:prstGeom prst="roundRect">
            <a:avLst>
              <a:gd name="adj" fmla="val 17778"/>
            </a:avLst>
          </a:prstGeom>
          <a:solidFill>
            <a:srgbClr val="EAF3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519379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El RAG recupera evidencia documental y construye el prompt antes de consultar al modelo.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5687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A4A"/>
                </a:solidFill>
              </a:rPr>
              <a:t>Tecnologías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5989320"/>
            <a:ext cx="25466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Haystack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5012" y="5989320"/>
            <a:ext cx="25466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Sentence Transformers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81344" y="5989320"/>
            <a:ext cx="25466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LangChain opcional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37676" y="5989320"/>
            <a:ext cx="25466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Prompt Engineering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262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 smtClean="0">
                <a:solidFill>
                  <a:srgbClr val="061A4A"/>
                </a:solidFill>
              </a:rPr>
              <a:t>Base </a:t>
            </a:r>
            <a:r>
              <a:rPr lang="en-US" sz="2500" b="1" dirty="0">
                <a:solidFill>
                  <a:srgbClr val="061A4A"/>
                </a:solidFill>
              </a:rPr>
              <a:t>Vectorial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B8"/>
                </a:solidFill>
              </a:rPr>
              <a:t>Almacenamiento semántico de documentos financieros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80760" y="1627632"/>
            <a:ext cx="0" cy="521208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971800" y="1060704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521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49040" y="115214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</a:rPr>
              <a:t>DOCUMENTOS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Reportes anuales / 10-K / fuentes financieras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2148840"/>
            <a:ext cx="62179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714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2450592"/>
            <a:ext cx="566928" cy="56692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0F5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4963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🧬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31920" y="240487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BASE VECTORIAL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9352" y="2770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 err="1" smtClean="0">
                <a:solidFill>
                  <a:srgbClr val="0F172A"/>
                </a:solidFill>
              </a:rPr>
              <a:t>ChromaDB</a:t>
            </a:r>
            <a:r>
              <a:rPr lang="en-US" sz="1250" dirty="0" smtClean="0">
                <a:solidFill>
                  <a:srgbClr val="0F172A"/>
                </a:solidFill>
              </a:rPr>
              <a:t> (</a:t>
            </a:r>
            <a:r>
              <a:rPr lang="en-US" sz="1250" dirty="0" err="1" smtClean="0">
                <a:solidFill>
                  <a:srgbClr val="0F172A"/>
                </a:solidFill>
              </a:rPr>
              <a:t>Ejemplo</a:t>
            </a:r>
            <a:r>
              <a:rPr lang="en-US" sz="1250" dirty="0"/>
              <a:t>)</a:t>
            </a:r>
            <a:endParaRPr lang="en-US" sz="1250" dirty="0" smtClean="0">
              <a:solidFill>
                <a:srgbClr val="0F172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42232" y="3108960"/>
            <a:ext cx="461772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Embeddings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Búsqueda por similaridad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Metadata: empresa, año, sección, página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1143000" y="5074920"/>
            <a:ext cx="9875520" cy="411480"/>
          </a:xfrm>
          <a:prstGeom prst="roundRect">
            <a:avLst>
              <a:gd name="adj" fmla="val 17778"/>
            </a:avLst>
          </a:prstGeom>
          <a:solidFill>
            <a:srgbClr val="EAF3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519379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Para el MVP usamos ChromaDB. Si el proyecto escala, se puede migrar a Pinecone.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5687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A4A"/>
                </a:solidFill>
              </a:rPr>
              <a:t>Tecnologías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5989320"/>
            <a:ext cx="5202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ChromaDB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81344" y="5989320"/>
            <a:ext cx="5202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Pinecone escalable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262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 err="1" smtClean="0">
                <a:solidFill>
                  <a:srgbClr val="061A4A"/>
                </a:solidFill>
              </a:rPr>
              <a:t>Modelo</a:t>
            </a:r>
            <a:r>
              <a:rPr lang="en-US" sz="2500" b="1" dirty="0" smtClean="0">
                <a:solidFill>
                  <a:srgbClr val="061A4A"/>
                </a:solidFill>
              </a:rPr>
              <a:t> </a:t>
            </a:r>
            <a:r>
              <a:rPr lang="en-US" sz="2500" b="1" dirty="0">
                <a:solidFill>
                  <a:srgbClr val="061A4A"/>
                </a:solidFill>
              </a:rPr>
              <a:t>LLM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B8"/>
                </a:solidFill>
              </a:rPr>
              <a:t>Generación de respuestas con contexto financiero recuperado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80760" y="1627632"/>
            <a:ext cx="0" cy="521208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971800" y="1060704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521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49040" y="115214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</a:rPr>
              <a:t>CONTEXTO RECUPERADO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Fragmentos relevantes desde ChromaDB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2148840"/>
            <a:ext cx="62179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714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2450592"/>
            <a:ext cx="566928" cy="56692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0F5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4963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🧠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31920" y="240487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GPT </a:t>
            </a:r>
            <a:r>
              <a:rPr lang="en-US" sz="1800" b="1" dirty="0" smtClean="0">
                <a:solidFill>
                  <a:srgbClr val="0F172A"/>
                </a:solidFill>
              </a:rPr>
              <a:t>API (</a:t>
            </a:r>
            <a:r>
              <a:rPr lang="en-US" sz="1800" b="1" dirty="0" err="1" smtClean="0">
                <a:solidFill>
                  <a:srgbClr val="0F172A"/>
                </a:solidFill>
              </a:rPr>
              <a:t>Ejemplo</a:t>
            </a:r>
            <a:r>
              <a:rPr lang="en-US" b="1" dirty="0">
                <a:solidFill>
                  <a:srgbClr val="0F172A"/>
                </a:solidFill>
              </a:rPr>
              <a:t>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9352" y="2770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OpenAI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42232" y="3108960"/>
            <a:ext cx="461772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Generación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Respuesta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Context Aware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1143000" y="5074920"/>
            <a:ext cx="9875520" cy="411480"/>
          </a:xfrm>
          <a:prstGeom prst="roundRect">
            <a:avLst>
              <a:gd name="adj" fmla="val 17778"/>
            </a:avLst>
          </a:prstGeom>
          <a:solidFill>
            <a:srgbClr val="EAF3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519379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El modelo responde usando el contexto entregado por el RAG, no solo conocimiento general.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5687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A4A"/>
                </a:solidFill>
              </a:rPr>
              <a:t>Tecnologías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5989320"/>
            <a:ext cx="5202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OpenAI 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81344" y="5989320"/>
            <a:ext cx="52029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GPT-4o / GPT-5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262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 smtClean="0">
                <a:solidFill>
                  <a:srgbClr val="061A4A"/>
                </a:solidFill>
              </a:rPr>
              <a:t>Base </a:t>
            </a:r>
            <a:r>
              <a:rPr lang="en-US" sz="2500" b="1" dirty="0">
                <a:solidFill>
                  <a:srgbClr val="061A4A"/>
                </a:solidFill>
              </a:rPr>
              <a:t>de Datos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B8"/>
                </a:solidFill>
              </a:rPr>
              <a:t>Persistencia del backend para usuarios, historial y configuración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80760" y="1627632"/>
            <a:ext cx="0" cy="521208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971800" y="1060704"/>
            <a:ext cx="6217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521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49040" y="1152144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F172A"/>
                </a:solidFill>
              </a:rPr>
              <a:t>FASTAPI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Backend transaccional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2148840"/>
            <a:ext cx="62179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7145">
            <a:solidFill>
              <a:srgbClr val="1552B5"/>
            </a:solidFill>
            <a:prstDash val="solid"/>
          </a:ln>
          <a:effectLst>
            <a:outerShdw blurRad="12700" dist="50800" dir="2700000" algn="bl" rotWithShape="0">
              <a:srgbClr val="BFD3E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2450592"/>
            <a:ext cx="566928" cy="566928"/>
          </a:xfrm>
          <a:prstGeom prst="ellipse">
            <a:avLst/>
          </a:prstGeom>
          <a:solidFill>
            <a:srgbClr val="EAF3FF"/>
          </a:solidFill>
          <a:ln w="12700">
            <a:solidFill>
              <a:srgbClr val="0F5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4963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🗄️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31920" y="240487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9352" y="2770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172A"/>
                </a:solidFill>
              </a:rPr>
              <a:t>Base transaccional del sistema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42232" y="3108960"/>
            <a:ext cx="461772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Usuarios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Conversaciones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Historial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Logs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</a:rPr>
              <a:t>• Configuración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1143000" y="5074920"/>
            <a:ext cx="9875520" cy="411480"/>
          </a:xfrm>
          <a:prstGeom prst="roundRect">
            <a:avLst>
              <a:gd name="adj" fmla="val 17778"/>
            </a:avLst>
          </a:prstGeom>
          <a:solidFill>
            <a:srgbClr val="EAF3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5193792"/>
            <a:ext cx="950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</a:rPr>
              <a:t>PostgreSQL guarda datos transaccionales; ChromaDB guarda vectores y búsqueda semántica.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5687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A4A"/>
                </a:solidFill>
              </a:rPr>
              <a:t>Tecnologías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5989320"/>
            <a:ext cx="34320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PostgreSQL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10456" y="5989320"/>
            <a:ext cx="34320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SQLAlchemy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52232" y="5989320"/>
            <a:ext cx="34320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52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Alembic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262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 err="1" smtClean="0">
                <a:solidFill>
                  <a:srgbClr val="061A4A"/>
                </a:solidFill>
              </a:rPr>
              <a:t>Arquitectura</a:t>
            </a:r>
            <a:r>
              <a:rPr lang="en-US" sz="2500" b="1" dirty="0" smtClean="0">
                <a:solidFill>
                  <a:srgbClr val="061A4A"/>
                </a:solidFill>
              </a:rPr>
              <a:t> </a:t>
            </a:r>
            <a:r>
              <a:rPr lang="en-US" sz="2500" b="1" dirty="0">
                <a:solidFill>
                  <a:srgbClr val="061A4A"/>
                </a:solidFill>
              </a:rPr>
              <a:t>Completa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52B8"/>
                </a:solidFill>
              </a:rPr>
              <a:t>MVP integrado: frontend, backend, RAG, datos y modelo generativo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80760" y="1444752"/>
            <a:ext cx="0" cy="338328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080760" y="2286000"/>
            <a:ext cx="0" cy="320040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394960" y="2336292"/>
            <a:ext cx="1371600" cy="201168"/>
          </a:xfrm>
          <a:prstGeom prst="rect">
            <a:avLst/>
          </a:prstGeom>
          <a:solidFill>
            <a:srgbClr val="F7FAFF">
              <a:alpha val="97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52B8"/>
                </a:solidFill>
              </a:rPr>
              <a:t>HTTP / REST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80760" y="3108960"/>
            <a:ext cx="0" cy="228600"/>
          </a:xfrm>
          <a:prstGeom prst="line">
            <a:avLst/>
          </a:prstGeom>
          <a:noFill/>
          <a:ln w="25400">
            <a:solidFill>
              <a:srgbClr val="0F52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3337560"/>
            <a:ext cx="7498080" cy="0"/>
          </a:xfrm>
          <a:prstGeom prst="line">
            <a:avLst/>
          </a:prstGeom>
          <a:noFill/>
          <a:ln w="25400">
            <a:solidFill>
              <a:srgbClr val="0F52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3337560"/>
            <a:ext cx="0" cy="457200"/>
          </a:xfrm>
          <a:prstGeom prst="line">
            <a:avLst/>
          </a:prstGeom>
          <a:noFill/>
          <a:ln w="2540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29800" y="3337560"/>
            <a:ext cx="0" cy="457200"/>
          </a:xfrm>
          <a:prstGeom prst="line">
            <a:avLst/>
          </a:prstGeom>
          <a:noFill/>
          <a:ln w="2540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4480560"/>
            <a:ext cx="0" cy="274320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5166360"/>
            <a:ext cx="0" cy="274320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80760" y="5806440"/>
            <a:ext cx="0" cy="246888"/>
          </a:xfrm>
          <a:prstGeom prst="line">
            <a:avLst/>
          </a:prstGeom>
          <a:noFill/>
          <a:ln w="27940">
            <a:solidFill>
              <a:srgbClr val="0F52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886200" y="1024128"/>
            <a:ext cx="4389120" cy="420624"/>
          </a:xfrm>
          <a:prstGeom prst="rect">
            <a:avLst/>
          </a:prstGeom>
          <a:solidFill>
            <a:srgbClr val="FFFFFF"/>
          </a:solidFill>
          <a:ln w="15875">
            <a:solidFill>
              <a:srgbClr val="155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👤  USUARIO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Analista / Inversionista / Cliente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1783080"/>
            <a:ext cx="740664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55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💬  FRONTEND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React + Vite + Tailwind + shadcn/ui + Axios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77440" y="2606040"/>
            <a:ext cx="7406640" cy="502920"/>
          </a:xfrm>
          <a:prstGeom prst="rect">
            <a:avLst/>
          </a:prstGeom>
          <a:solidFill>
            <a:srgbClr val="EAF3FF"/>
          </a:solidFill>
          <a:ln w="15875">
            <a:solidFill>
              <a:srgbClr val="155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🖥️  FASTAPI BACKEND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API REST • Conversaciones • Orquestación • Logging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32004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55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🗄️  POSTGRESQL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Usuarios • Historial • Logs • Configuración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3794760"/>
            <a:ext cx="32004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55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🔎  PIPELINE RAG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Haystack + Embeddings • Retriever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0" y="3794760"/>
            <a:ext cx="32004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55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🔐  AUTENTICACIÓN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JWT • Control básico de acceso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51960" y="4754880"/>
            <a:ext cx="3657600" cy="41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55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🧬  CHROMADB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Base vectorial del MVP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51960" y="5440680"/>
            <a:ext cx="365760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55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🧠  OPENAI GPT 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Generación con contexto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51960" y="6053328"/>
            <a:ext cx="365760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155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✅  RESPUESTA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</a:rPr>
              <a:t>Respuesta + fuentes consultadas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262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4" name="Shape 7"/>
          <p:cNvSpPr/>
          <p:nvPr/>
        </p:nvSpPr>
        <p:spPr>
          <a:xfrm>
            <a:off x="6080760" y="3313528"/>
            <a:ext cx="0" cy="457200"/>
          </a:xfrm>
          <a:prstGeom prst="line">
            <a:avLst/>
          </a:prstGeom>
          <a:noFill/>
          <a:ln w="25400">
            <a:solidFill>
              <a:srgbClr val="0F52B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434</Words>
  <Application>Microsoft Office PowerPoint</Application>
  <PresentationFormat>Panorámica</PresentationFormat>
  <Paragraphs>139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Advisor Chatbot - Arquitectura por Módulos</dc:title>
  <dc:subject>PptxGenJS Presentation</dc:subject>
  <dc:creator>EmilioChasipanta</dc:creator>
  <cp:lastModifiedBy>EMILIO SEBASTIAN CHASIPANTA CHUQUIMARCA</cp:lastModifiedBy>
  <cp:revision>4</cp:revision>
  <dcterms:created xsi:type="dcterms:W3CDTF">2026-07-23T22:20:13Z</dcterms:created>
  <dcterms:modified xsi:type="dcterms:W3CDTF">2026-07-23T22:36:15Z</dcterms:modified>
</cp:coreProperties>
</file>